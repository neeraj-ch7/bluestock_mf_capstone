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B5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B55"/>
                </a:solidFill>
                <a:latin typeface="Arial"/>
              </a:rPr>
              <a:t>SIP Monthly Inflow Growth (₹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Inflows (₹ Cr)</c:v>
                </c:pt>
              </c:strCache>
            </c:strRef>
          </c:tx>
          <c:spPr>
            <a:solidFill>
              <a:srgbClr val="0A7E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Jan-22</c:v>
                </c:pt>
                <c:pt idx="1">
                  <c:v>Dec-22</c:v>
                </c:pt>
                <c:pt idx="2">
                  <c:v>Dec-23</c:v>
                </c:pt>
                <c:pt idx="3">
                  <c:v>Jun-24</c:v>
                </c:pt>
                <c:pt idx="4">
                  <c:v>Dec-24</c:v>
                </c:pt>
                <c:pt idx="5">
                  <c:v>Dec-25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11517</c:v>
                </c:pt>
                <c:pt idx="1">
                  <c:v>13573</c:v>
                </c:pt>
                <c:pt idx="2">
                  <c:v>17610</c:v>
                </c:pt>
                <c:pt idx="3">
                  <c:v>21202</c:v>
                </c:pt>
                <c:pt idx="4">
                  <c:v>26459</c:v>
                </c:pt>
                <c:pt idx="5">
                  <c:v>31002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FD-40A5-B6B3-DEF05FCDD6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B5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B55"/>
                </a:solidFill>
                <a:latin typeface="Arial"/>
              </a:rPr>
              <a:t>Category Net Inflows (₹ Cr, Latest Month)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Inflow (₹ Cr)</c:v>
                </c:pt>
              </c:strCache>
            </c:strRef>
          </c:tx>
          <c:spPr>
            <a:solidFill>
              <a:srgbClr val="0A7EA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Large Cap</c:v>
                </c:pt>
                <c:pt idx="1">
                  <c:v>Mid Cap</c:v>
                </c:pt>
                <c:pt idx="2">
                  <c:v>Small Cap</c:v>
                </c:pt>
                <c:pt idx="3">
                  <c:v>Flexi Cap</c:v>
                </c:pt>
                <c:pt idx="4">
                  <c:v>ELSS</c:v>
                </c:pt>
                <c:pt idx="5">
                  <c:v>Debt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2413</c:v>
                </c:pt>
                <c:pt idx="1">
                  <c:v>3897</c:v>
                </c:pt>
                <c:pt idx="2">
                  <c:v>2987</c:v>
                </c:pt>
                <c:pt idx="3">
                  <c:v>1845</c:v>
                </c:pt>
                <c:pt idx="4">
                  <c:v>1234</c:v>
                </c:pt>
                <c:pt idx="5">
                  <c:v>-562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85-4665-A788-B711791AB4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B5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B55"/>
                </a:solidFill>
                <a:latin typeface="Arial"/>
              </a:rPr>
              <a:t>SIP Registrations by Age Group (%)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SIP %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B1-49C0-B8AF-66C78A6E6E0D}"/>
              </c:ext>
            </c:extLst>
          </c:dPt>
          <c:dPt>
            <c:idx val="1"/>
            <c:bubble3D val="0"/>
            <c:spPr>
              <a:solidFill>
                <a:srgbClr val="0A7E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B1-49C0-B8AF-66C78A6E6E0D}"/>
              </c:ext>
            </c:extLst>
          </c:dPt>
          <c:dPt>
            <c:idx val="2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B1-49C0-B8AF-66C78A6E6E0D}"/>
              </c:ext>
            </c:extLst>
          </c:dPt>
          <c:dPt>
            <c:idx val="3"/>
            <c:bubble3D val="0"/>
            <c:spPr>
              <a:solidFill>
                <a:srgbClr val="93C5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B1-49C0-B8AF-66C78A6E6E0D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B1-49C0-B8AF-66C78A6E6E0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B1-49C0-B8AF-66C78A6E6E0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B1-49C0-B8AF-66C78A6E6E0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B1-49C0-B8AF-66C78A6E6E0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B1-49C0-B8AF-66C78A6E6E0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6B1-49C0-B8AF-66C78A6E6E0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34</c:v>
                </c:pt>
                <c:pt idx="2">
                  <c:v>28</c:v>
                </c:pt>
                <c:pt idx="3">
                  <c:v>16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B1-49C0-B8AF-66C78A6E6E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B5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B55"/>
                </a:solidFill>
                <a:latin typeface="Arial"/>
              </a:rPr>
              <a:t>Payment Mode Distribution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0B5-4F69-8FC1-746EB64D03D0}"/>
              </c:ext>
            </c:extLst>
          </c:dPt>
          <c:dPt>
            <c:idx val="1"/>
            <c:bubble3D val="0"/>
            <c:spPr>
              <a:solidFill>
                <a:srgbClr val="0A7E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0B5-4F69-8FC1-746EB64D03D0}"/>
              </c:ext>
            </c:extLst>
          </c:dPt>
          <c:dPt>
            <c:idx val="2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0B5-4F69-8FC1-746EB64D03D0}"/>
              </c:ext>
            </c:extLst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0B5-4F69-8FC1-746EB64D03D0}"/>
              </c:ext>
            </c:extLst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0B5-4F69-8FC1-746EB64D03D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B5-4F69-8FC1-746EB64D03D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B5-4F69-8FC1-746EB64D03D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B5-4F69-8FC1-746EB64D03D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B5-4F69-8FC1-746EB64D03D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B5-4F69-8FC1-746EB64D03D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UPI</c:v>
                </c:pt>
                <c:pt idx="1">
                  <c:v>Mandate</c:v>
                </c:pt>
                <c:pt idx="2">
                  <c:v>Cheque</c:v>
                </c:pt>
                <c:pt idx="3">
                  <c:v>NEFT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</c:v>
                </c:pt>
                <c:pt idx="1">
                  <c:v>23</c:v>
                </c:pt>
                <c:pt idx="2">
                  <c:v>9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0B5-4F69-8FC1-746EB64D03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B5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B55"/>
                </a:solidFill>
                <a:latin typeface="Arial"/>
              </a:rPr>
              <a:t>Returns by Category (%, 1-Yr vs 3-Yr)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1-Yr Return (%)</c:v>
                </c:pt>
              </c:strCache>
            </c:strRef>
          </c:tx>
          <c:spPr>
            <a:solidFill>
              <a:srgbClr val="0A7E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Small Cap</c:v>
                </c:pt>
                <c:pt idx="1">
                  <c:v>Mid Cap</c:v>
                </c:pt>
                <c:pt idx="2">
                  <c:v>Flexi Cap</c:v>
                </c:pt>
                <c:pt idx="3">
                  <c:v>Large Cap</c:v>
                </c:pt>
                <c:pt idx="4">
                  <c:v>ELSS</c:v>
                </c:pt>
                <c:pt idx="5">
                  <c:v>Gilt</c:v>
                </c:pt>
                <c:pt idx="6">
                  <c:v>Liquid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22.5</c:v>
                </c:pt>
                <c:pt idx="1">
                  <c:v>18.7</c:v>
                </c:pt>
                <c:pt idx="2">
                  <c:v>16.2</c:v>
                </c:pt>
                <c:pt idx="3">
                  <c:v>12.4</c:v>
                </c:pt>
                <c:pt idx="4">
                  <c:v>14.8</c:v>
                </c:pt>
                <c:pt idx="5">
                  <c:v>8.4</c:v>
                </c:pt>
                <c:pt idx="6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4-41B9-963E-90923F2B42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3-Yr Return (%)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Small Cap</c:v>
                </c:pt>
                <c:pt idx="1">
                  <c:v>Mid Cap</c:v>
                </c:pt>
                <c:pt idx="2">
                  <c:v>Flexi Cap</c:v>
                </c:pt>
                <c:pt idx="3">
                  <c:v>Large Cap</c:v>
                </c:pt>
                <c:pt idx="4">
                  <c:v>ELSS</c:v>
                </c:pt>
                <c:pt idx="5">
                  <c:v>Gilt</c:v>
                </c:pt>
                <c:pt idx="6">
                  <c:v>Liquid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21.8</c:v>
                </c:pt>
                <c:pt idx="1">
                  <c:v>16.399999999999999</c:v>
                </c:pt>
                <c:pt idx="2">
                  <c:v>14.9</c:v>
                </c:pt>
                <c:pt idx="3">
                  <c:v>11.6</c:v>
                </c:pt>
                <c:pt idx="4">
                  <c:v>13.2</c:v>
                </c:pt>
                <c:pt idx="5">
                  <c:v>7.6</c:v>
                </c:pt>
                <c:pt idx="6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F4-41B9-963E-90923F2B42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B5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B55"/>
                </a:solidFill>
                <a:latin typeface="Arial"/>
              </a:rPr>
              <a:t>Downside Risk: VaR &amp; CVaR by Category (Daily 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VaR-95 (Daily %)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Small Cap</c:v>
                </c:pt>
                <c:pt idx="1">
                  <c:v>Mid Cap</c:v>
                </c:pt>
                <c:pt idx="2">
                  <c:v>Large Cap</c:v>
                </c:pt>
                <c:pt idx="3">
                  <c:v>Flexi Cap</c:v>
                </c:pt>
                <c:pt idx="4">
                  <c:v>Gilt</c:v>
                </c:pt>
                <c:pt idx="5">
                  <c:v>Liquid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1.87</c:v>
                </c:pt>
                <c:pt idx="1">
                  <c:v>1.54</c:v>
                </c:pt>
                <c:pt idx="2">
                  <c:v>1.33</c:v>
                </c:pt>
                <c:pt idx="3">
                  <c:v>1.41</c:v>
                </c:pt>
                <c:pt idx="4">
                  <c:v>0.72</c:v>
                </c:pt>
                <c:pt idx="5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AB-4316-A57A-FF1932CB17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CVaR-95 (Daily %)</c:v>
                </c:pt>
              </c:strCache>
            </c:strRef>
          </c:tx>
          <c:spPr>
            <a:solidFill>
              <a:srgbClr val="0D2B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Small Cap</c:v>
                </c:pt>
                <c:pt idx="1">
                  <c:v>Mid Cap</c:v>
                </c:pt>
                <c:pt idx="2">
                  <c:v>Large Cap</c:v>
                </c:pt>
                <c:pt idx="3">
                  <c:v>Flexi Cap</c:v>
                </c:pt>
                <c:pt idx="4">
                  <c:v>Gilt</c:v>
                </c:pt>
                <c:pt idx="5">
                  <c:v>Liquid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2.54</c:v>
                </c:pt>
                <c:pt idx="1">
                  <c:v>2.11</c:v>
                </c:pt>
                <c:pt idx="2">
                  <c:v>1.74</c:v>
                </c:pt>
                <c:pt idx="3">
                  <c:v>1.89</c:v>
                </c:pt>
                <c:pt idx="4">
                  <c:v>0.98</c:v>
                </c:pt>
                <c:pt idx="5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AB-4316-A57A-FF1932CB17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90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 as a full-stack data analytics capstone built on AMFI data covering India's mutual fund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mutual fund industry crossed Rs 67 lakh crore in AUM but retail investors lack the analytical tools that institutions use. This project closes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datasets sourced from AMFI public disclosures. Investor transactions are simulated using statistical distributions matching AMFI demographic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runs end-to-end in ~3 minutes on a standard laptop. run_pipeline.py executes all stages in sequence with logging and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 inflows grew from Rs 11,517 Cr to Rs 31,002 Cr — a 169% rise over 4 years. Mid Cap and Small Cap categories show the strongest net inflows, reflecting retail risk appetite.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32,778 investor transactions analysed. Key finding: B30 market investors are more committed (longer SIP tenure) but need better product education. Female participation has nearly doubled.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Sharpe of 1.36 indicates good risk-adjusted returns industry-wide. Liquid funds appear as outliers with negative Sharpe due to very low volatility relative to the risk-free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Composite scorecard weights: Return 30%, Sharpe 25%, Alpha 20%, Drawdown 15%, Consistency 10%. HDFC Mid-Cap tops the list driven by its exceptional 32.5% 3-year CAGR.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headline findings that should drive actionable decisions for investors and platform stakeholders. The Direct-vs-Regular gap is the single most impactful recommendation for retail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presentation. Open Q&amp;A. Key contact: Bluestock Fintech Pvt. Ltd. project team. All source code, data, and documentation available in the GitHub repository under tag v1.0.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0E3570">
              <a:alpha val="70000"/>
            </a:srgbClr>
          </a:solidFill>
          <a:ln w="12700">
            <a:solidFill>
              <a:srgbClr val="0E3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274320"/>
            <a:ext cx="2560320" cy="2560320"/>
          </a:xfrm>
          <a:prstGeom prst="ellipse">
            <a:avLst/>
          </a:prstGeom>
          <a:solidFill>
            <a:srgbClr val="0D2B55">
              <a:alpha val="80000"/>
            </a:srgbClr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Final Presentation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5029200" cy="0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Analytics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3310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694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60320" y="3694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Final Submission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0" y="48234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INTERNAL USE ONLY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8F0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lack access to institutional-grade risk analytics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208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data is public but unstructured and hard to interpret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integrates NAV, performance, investor, and risk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449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selection is driven by past returns rather than risk-adjusted metrics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5570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market investor needs are poorly understood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F0FAF6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20624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ETL pipeline for 10 AMFI datasets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1901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institutional risk metrics (Sharpe, Alpha, VaR)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2951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investor behaviour across demographics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688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schemes via composite scorecard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3081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interactive Power BI dashboard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rule-based fund recommender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3867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and document everything on GitHub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4261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all 8 project objectives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— 10 AMFI Datasets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1325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0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metadata, categories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115568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0" y="1325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rows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20840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Jan 2022–May 2026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1773936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1883664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1883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1847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" y="20939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rows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86000" y="20939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trends across 15 AMCs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09160" y="1773936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1883664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1883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1847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0" y="20939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months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20840" y="20939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 &amp; account data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4320" y="2542032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265176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" y="2862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Multi-month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286000" y="2862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flows by fund category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09160" y="2542032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265176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03520" y="2862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Multi-month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20840" y="2862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investor base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3310128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5760" y="3419856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68680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8680" y="3630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286000" y="3630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return metrics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09160" y="3310128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00600" y="3419856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0060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03520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303520" y="3630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rows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20840" y="3630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behaviour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" y="4078224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65760" y="4187952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68680" y="4151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68680" y="4398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rows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286000" y="4398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allocation data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709160" y="4078224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800600" y="4187952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0060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03520" y="4151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303520" y="4398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rows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720840" y="4398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NIFTY/BSE benchmark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14630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CSVs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source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91640" y="1783080"/>
            <a:ext cx="594360" cy="0"/>
          </a:xfrm>
          <a:prstGeom prst="line">
            <a:avLst/>
          </a:prstGeom>
          <a:noFill/>
          <a:ln w="317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1618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100584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57400" y="1005840"/>
            <a:ext cx="14630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5740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48840" y="15087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range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20440" y="1783080"/>
            <a:ext cx="594360" cy="0"/>
          </a:xfrm>
          <a:prstGeom prst="line">
            <a:avLst/>
          </a:prstGeom>
          <a:noFill/>
          <a:ln w="317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0" y="1618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86200" y="100584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86200" y="1005840"/>
            <a:ext cx="1463040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8620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77640" y="15087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Sharpe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Alpha, VaR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1783080"/>
            <a:ext cx="594360" cy="0"/>
          </a:xfrm>
          <a:prstGeom prst="line">
            <a:avLst/>
          </a:prstGeom>
          <a:noFill/>
          <a:ln w="317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0" y="1618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100584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15000" y="1005840"/>
            <a:ext cx="14630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1500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06440" y="15087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78040" y="1783080"/>
            <a:ext cx="594360" cy="0"/>
          </a:xfrm>
          <a:prstGeom prst="line">
            <a:avLst/>
          </a:prstGeom>
          <a:noFill/>
          <a:ln w="317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98080" y="1618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43800" y="100584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543800" y="1005840"/>
            <a:ext cx="146304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4380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35240" y="15087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CSVs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by: run_pipeline.py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3063240"/>
            <a:ext cx="91440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56616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566160"/>
            <a:ext cx="20116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3675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14600" y="356616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514600" y="3566160"/>
            <a:ext cx="20116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606040" y="3675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CSVs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0604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data/processed/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356616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54880" y="3566160"/>
            <a:ext cx="2011680" cy="54864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3675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.pbix file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995160" y="356616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995160" y="356616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86600" y="3675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08660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CVaR, Scorecard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SIP Growth &amp; Industry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92024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₹31,002 Cr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Monthly SIP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 2025)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41448" y="960120"/>
            <a:ext cx="1920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32888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87168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(2022→2025)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08576" y="960120"/>
            <a:ext cx="192024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0016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9.35 Cr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54296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75704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75704" y="960120"/>
            <a:ext cx="1920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67144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₹67L Cr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21424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 2025)</a:t>
            </a:r>
            <a:endParaRPr lang="en-US" sz="9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2148840"/>
          <a:ext cx="51206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1"/>
          <p:cNvGraphicFramePr/>
          <p:nvPr/>
        </p:nvGraphicFramePr>
        <p:xfrm>
          <a:off x="5577840" y="2148840"/>
          <a:ext cx="32918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Investor Behaviour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3840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297680" y="960120"/>
          <a:ext cx="3840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42900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2920" y="35112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leads SIP adoption with 34% share — India's young workforce drives MF growth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709160" y="342900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937760" y="35112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accounts for 61% of mutual fund payments — digital infrastructure enabling B30 market access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4320" y="4087368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02920" y="41696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investors: 38% of transactions (up from 22% in 2022) — growing financial inclusion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709160" y="4087368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937760" y="41696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investors show 28-month average SIP tenure vs 19 months in T30 — stickier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Risk-Return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Metrics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1371600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14264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Sharpe Ratio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897880" y="1627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0" y="1645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40 schemes (rf=6.5%)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60720" y="2057400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97880" y="21122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Alpha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897880" y="2313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32320" y="2331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benchmark return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760720" y="2743200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97880" y="27980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Beta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97880" y="2999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32320" y="30175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sensitivity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760720" y="3429000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97880" y="3483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1-Yr Return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897880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24.93%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32320" y="3703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– Regular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760720" y="4114800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897880" y="41696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Std Dev (Ann)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897880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132320" y="4389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funds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74320" y="384048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FFF3F0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7200" y="39136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Small Cap funds deliver the highest returns (22.5% avg 1-yr) but carry 2× the drawdown risk of Large Cap. Direct plans outperform Regular plans by 2–4% annually due to lower expense ratios.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VaR, CVaR &amp; Fund Scorecard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960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— Top 5 (Composite Score / 100)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0" y="1417320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23560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Mid-Cap Opp.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23560" y="1709928"/>
            <a:ext cx="2468880" cy="1280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23560" y="1709928"/>
            <a:ext cx="2172614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38160" y="148132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88/100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0" y="2039112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2356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23560" y="2331720"/>
            <a:ext cx="2468880" cy="1280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23560" y="2331720"/>
            <a:ext cx="2098548" cy="12801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138160" y="21031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85/100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0" y="2660904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623560" y="2724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Frontline Eq.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23560" y="2953512"/>
            <a:ext cx="2468880" cy="1280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623560" y="2953512"/>
            <a:ext cx="1999793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138160" y="272491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81/100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0" y="3282696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623560" y="3346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India SC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23560" y="3575304"/>
            <a:ext cx="2468880" cy="1280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623560" y="3575304"/>
            <a:ext cx="1950415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138160" y="334670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79/100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0" y="3904488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623560" y="3968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623560" y="4197096"/>
            <a:ext cx="2468880" cy="1280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623560" y="4197096"/>
            <a:ext cx="1826971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138160" y="396849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74/100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274320" y="36576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&amp; Beta Summary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7200" y="4069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Small Cap: Highest Alpha (1.23%) — strong active management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57200" y="4315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 Cap: Beta = 0.89 — closely tracks benchmark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45628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Liquid funds: Beta ≈ 0 — no equity market sensitivity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2070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Plans Save 2–4% Annually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4173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expense ratios (0.66% vs 1.54% avg) compound to Rs 1.5–2L savings per Rs 10L over 10 years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18888" y="12070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1888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67528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= High Return, High Risk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67528" y="14173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 avg 1-yr return but daily CVaR-95 of 2.54% — suitable only for 5+ year horizons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25054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" y="23957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Markets Are Digitally Ready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27157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UPI adoption in B30 investors; 28-month avg SIP tenure signals long-term commitment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09160" y="2304288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18888" y="25054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18888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🏆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67528" y="23957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Mid-Cap Tops Scorecard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67528" y="27157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88/100 — best balance of 3-yr CAGR (32.5%), Sharpe, and alpha generation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602736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" y="38039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♀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2688" y="36941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Participation Nearly Doubled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" y="401421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transactions by female investors in 2025 vs 22% in 2022 — financial inclusion success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3602736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8888" y="38039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1888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🔁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67528" y="36941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Beats Lump-Sum in Volatile Markets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67528" y="401421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investors earned 18% higher effective returns vs lump-sum in Mid/Small Cap during 2022-23 correction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0E3570">
              <a:alpha val="70000"/>
            </a:srgbClr>
          </a:solidFill>
          <a:ln w="12700">
            <a:solidFill>
              <a:srgbClr val="0E3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457200"/>
            <a:ext cx="2560320" cy="2560320"/>
          </a:xfrm>
          <a:prstGeom prst="ellipse">
            <a:avLst/>
          </a:prstGeom>
          <a:solidFill>
            <a:srgbClr val="0E3570">
              <a:alpha val="70000"/>
            </a:srgbClr>
          </a:solidFill>
          <a:ln w="12700">
            <a:solidFill>
              <a:srgbClr val="0E3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2743200" y="2148840"/>
            <a:ext cx="3657600" cy="0"/>
          </a:xfrm>
          <a:prstGeom prst="line">
            <a:avLst/>
          </a:prstGeom>
          <a:noFill/>
          <a:ln w="317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Platform  |  Capstone v1.0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0E3570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035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4560" y="301752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0E3570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94560" y="3035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94560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31920" y="301752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0E3570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0" y="3035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31920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0" y="301752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0E3570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3035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0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06640" y="301752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0E3570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0" y="3035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06640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3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github.com/bluestock-fintech/bluestock-mf-capstone  |  Tag: v1.0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0" y="48234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INTERNAL USE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1201</Words>
  <Application>Microsoft Office PowerPoint</Application>
  <PresentationFormat>On-screen Show (16:9)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Platform</dc:title>
  <dc:subject>PptxGenJS Presentation</dc:subject>
  <dc:creator>Bluestock Fintech Pvt. Ltd.</dc:creator>
  <cp:lastModifiedBy>Neeraj Chauhan</cp:lastModifiedBy>
  <cp:revision>2</cp:revision>
  <dcterms:created xsi:type="dcterms:W3CDTF">2026-06-13T04:19:56Z</dcterms:created>
  <dcterms:modified xsi:type="dcterms:W3CDTF">2026-06-13T04:24:18Z</dcterms:modified>
</cp:coreProperties>
</file>